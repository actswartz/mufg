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Recap: Why Error Handling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Ensures playbook reliability.</a:t>
            </a:r>
          </a:p>
          <a:p>
            <a:pPr lvl="0"/>
            <a:r>
              <a:rPr/>
              <a:t>Prevents inconsistent states.</a:t>
            </a:r>
          </a:p>
          <a:p>
            <a:pPr lvl="0"/>
            <a:r>
              <a:rPr/>
              <a:t>Enables automated recovery actions.</a:t>
            </a:r>
          </a:p>
          <a:p>
            <a:pPr lvl="0"/>
            <a:r>
              <a:rPr/>
              <a:t>Makes automation more robust.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Recap: Basic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ignore_errors: true</a:t>
            </a:r>
            <a:r>
              <a:rPr/>
              <a:t>: Continue playbook execution even if a task fails.</a:t>
            </a:r>
          </a:p>
          <a:p>
            <a:pPr lvl="0"/>
            <a:r>
              <a:rPr>
                <a:latin typeface="Courier"/>
              </a:rPr>
              <a:t>failed_when: 'error' in result.stdout</a:t>
            </a:r>
            <a:r>
              <a:rPr/>
              <a:t>: Define custom failure conditions.</a:t>
            </a:r>
          </a:p>
          <a:p>
            <a:pPr lvl="0"/>
            <a:r>
              <a:rPr/>
              <a:t>Useful for simple, isolated tasks.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of Basic Handlers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ignore_errors</a:t>
            </a:r>
            <a:r>
              <a:rPr/>
              <a:t> is all-or-nothing for a task.</a:t>
            </a:r>
          </a:p>
          <a:p>
            <a:pPr lvl="0"/>
            <a:r>
              <a:rPr/>
              <a:t>No easy way to run cleanup or rollback tasks for a group of related operations.</a:t>
            </a:r>
          </a:p>
          <a:p>
            <a:pPr lvl="0"/>
            <a:r>
              <a:rPr/>
              <a:t>Can lead to complex and nested conditional logic.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Introducing </a:t>
            </a:r>
            <a:r>
              <a:rPr>
                <a:latin typeface="Courier"/>
              </a:rPr>
              <a:t>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Groups a series of tasks together.</a:t>
            </a:r>
          </a:p>
          <a:p>
            <a:pPr lvl="0"/>
            <a:r>
              <a:rPr/>
              <a:t>If any task in the </a:t>
            </a:r>
            <a:r>
              <a:rPr>
                <a:latin typeface="Courier"/>
              </a:rPr>
              <a:t>block</a:t>
            </a:r>
            <a:r>
              <a:rPr/>
              <a:t> fails, the entire </a:t>
            </a:r>
            <a:r>
              <a:rPr>
                <a:latin typeface="Courier"/>
              </a:rPr>
              <a:t>block</a:t>
            </a:r>
            <a:r>
              <a:rPr/>
              <a:t> is considered to have failed.</a:t>
            </a:r>
          </a:p>
          <a:p>
            <a:pPr lvl="0"/>
            <a:r>
              <a:rPr/>
              <a:t>Execution then jumps to the </a:t>
            </a:r>
            <a:r>
              <a:rPr>
                <a:latin typeface="Courier"/>
              </a:rPr>
              <a:t>rescue</a:t>
            </a:r>
            <a:r>
              <a:rPr/>
              <a:t> section.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Anatomy of a </a:t>
            </a:r>
            <a:r>
              <a:rPr>
                <a:latin typeface="Courier"/>
              </a:rPr>
              <a:t>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</a:t>
            </a:r>
            <a:r>
              <a:rPr>
                <a:latin typeface="Courier"/>
              </a:rPr>
              <a:t>block</a:t>
            </a:r>
            <a:r>
              <a:rPr/>
              <a:t> is a list of tasks.</a:t>
            </a:r>
          </a:p>
          <a:p>
            <a:pPr lvl="0"/>
            <a:r>
              <a:rPr/>
              <a:t>It acts like a </a:t>
            </a:r>
            <a:r>
              <a:rPr>
                <a:latin typeface="Courier"/>
              </a:rPr>
              <a:t>try</a:t>
            </a:r>
            <a:r>
              <a:rPr/>
              <a:t> block in traditional programming.</a:t>
            </a:r>
          </a:p>
          <a:p>
            <a:pPr lvl="0"/>
            <a:r>
              <a:rPr/>
              <a:t>All tasks within the block are executed sequentially.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Basic </a:t>
            </a:r>
            <a:r>
              <a:rPr>
                <a:latin typeface="Courier"/>
              </a:rPr>
              <a:t>block</a:t>
            </a:r>
            <a:r>
              <a:rPr/>
              <a:t>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 block of tasks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block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Task 1 - Perform an operation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ansible.builtin.debug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msg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"Executing Task 1"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Task 2 - Another operation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ansible.builtin.debug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msg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"Executing Task 2"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Introducing </a:t>
            </a:r>
            <a:r>
              <a:rPr>
                <a:latin typeface="Courier"/>
              </a:rPr>
              <a:t>rescue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Defines a set of tasks to run when a </a:t>
            </a:r>
            <a:r>
              <a:rPr>
                <a:latin typeface="Courier"/>
              </a:rPr>
              <a:t>block</a:t>
            </a:r>
            <a:r>
              <a:rPr/>
              <a:t> fails.</a:t>
            </a:r>
          </a:p>
          <a:p>
            <a:pPr lvl="0"/>
            <a:r>
              <a:rPr/>
              <a:t>Acts like a </a:t>
            </a:r>
            <a:r>
              <a:rPr>
                <a:latin typeface="Courier"/>
              </a:rPr>
              <a:t>catch</a:t>
            </a:r>
            <a:r>
              <a:rPr/>
              <a:t> block.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rescue</a:t>
            </a:r>
            <a:r>
              <a:rPr/>
              <a:t> section is only executed if a task in the </a:t>
            </a:r>
            <a:r>
              <a:rPr>
                <a:latin typeface="Courier"/>
              </a:rPr>
              <a:t>block</a:t>
            </a:r>
            <a:r>
              <a:rPr/>
              <a:t> section fails.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Anatomy of a </a:t>
            </a:r>
            <a:r>
              <a:rPr>
                <a:latin typeface="Courier"/>
              </a:rPr>
              <a:t>rescue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</a:t>
            </a:r>
            <a:r>
              <a:rPr>
                <a:latin typeface="Courier"/>
              </a:rPr>
              <a:t>rescue</a:t>
            </a:r>
            <a:r>
              <a:rPr/>
              <a:t> is a list of tasks.</a:t>
            </a:r>
          </a:p>
          <a:p>
            <a:pPr lvl="0"/>
            <a:r>
              <a:rPr/>
              <a:t>These tasks are meant to handle the error, rollback changes, or send notifications.</a:t>
            </a:r>
          </a:p>
          <a:p>
            <a:pPr lvl="0"/>
            <a:r>
              <a:rPr/>
              <a:t>The tasks in </a:t>
            </a:r>
            <a:r>
              <a:rPr>
                <a:latin typeface="Courier"/>
              </a:rPr>
              <a:t>rescue</a:t>
            </a:r>
            <a:r>
              <a:rPr/>
              <a:t> are only executed if a failure occurs within the preceding </a:t>
            </a:r>
            <a:r>
              <a:rPr>
                <a:latin typeface="Courier"/>
              </a:rPr>
              <a:t>block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</a:t>
            </a:r>
            <a:r>
              <a:rPr>
                <a:latin typeface="Courier"/>
              </a:rPr>
              <a:t>block</a:t>
            </a:r>
            <a:r>
              <a:rPr/>
              <a:t> with a </a:t>
            </a:r>
            <a:r>
              <a:rPr>
                <a:latin typeface="Courier"/>
              </a:rPr>
              <a:t>rescue</a:t>
            </a:r>
            <a:r>
              <a:rPr/>
              <a:t>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 robust set of tasks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block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An operation that might fail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ansible.builtin.command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/usr/bin/false</a:t>
            </a:r>
            <a:r>
              <a:rPr i="1">
                <a:solidFill>
                  <a:srgbClr val="60A0B0"/>
                </a:solidFill>
                <a:latin typeface="Courier"/>
              </a:rPr>
              <a:t>  # This command will fail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This task will not run if the previous one fails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ansible.builtin.debug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msg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"This won't be seen if previous task fails"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rescue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Task to run on failure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ansible.builtin.debug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msg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 task in the block failed, executing rescue!"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Introducing </a:t>
            </a:r>
            <a:r>
              <a:rPr>
                <a:latin typeface="Courier"/>
              </a:rPr>
              <a:t>always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Defines tasks that will </a:t>
            </a:r>
            <a:r>
              <a:rPr i="1"/>
              <a:t>always</a:t>
            </a:r>
            <a:r>
              <a:rPr/>
              <a:t> be executed, regardless of whether the </a:t>
            </a:r>
            <a:r>
              <a:rPr>
                <a:latin typeface="Courier"/>
              </a:rPr>
              <a:t>block</a:t>
            </a:r>
            <a:r>
              <a:rPr/>
              <a:t> or </a:t>
            </a:r>
            <a:r>
              <a:rPr>
                <a:latin typeface="Courier"/>
              </a:rPr>
              <a:t>rescue</a:t>
            </a:r>
            <a:r>
              <a:rPr/>
              <a:t> sections succeeded or failed.</a:t>
            </a:r>
          </a:p>
          <a:p>
            <a:pPr lvl="0"/>
            <a:r>
              <a:rPr/>
              <a:t>Acts like a </a:t>
            </a:r>
            <a:r>
              <a:rPr>
                <a:latin typeface="Courier"/>
              </a:rPr>
              <a:t>finally</a:t>
            </a:r>
            <a:r>
              <a:rPr/>
              <a:t> block in traditional programming.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Anatomy of an </a:t>
            </a:r>
            <a:r>
              <a:rPr>
                <a:latin typeface="Courier"/>
              </a:rPr>
              <a:t>always</a:t>
            </a:r>
            <a:r>
              <a:rPr/>
              <a:t>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list of tasks.</a:t>
            </a:r>
          </a:p>
          <a:p>
            <a:pPr lvl="0"/>
            <a:r>
              <a:rPr/>
              <a:t>Ideal for cleanup operations like removing temporary files, logging out of a service, or ensuring resources are released.</a:t>
            </a:r>
          </a:p>
          <a:p>
            <a:pPr lvl="0"/>
            <a:r>
              <a:rPr/>
              <a:t>Ensures these tasks run, even if an unexpected error occurs.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</a:t>
            </a:r>
            <a:r>
              <a:rPr>
                <a:latin typeface="Courier"/>
              </a:rPr>
              <a:t>block</a:t>
            </a:r>
            <a:r>
              <a:rPr/>
              <a:t>, </a:t>
            </a:r>
            <a:r>
              <a:rPr>
                <a:latin typeface="Courier"/>
              </a:rPr>
              <a:t>rescue</a:t>
            </a:r>
            <a:r>
              <a:rPr/>
              <a:t>, and </a:t>
            </a:r>
            <a:r>
              <a:rPr>
                <a:latin typeface="Courier"/>
              </a:rPr>
              <a:t>always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 complete error handling example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block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Risky operation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ansible.builtin.command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/usr/bin/false</a:t>
            </a:r>
            <a:r>
              <a:rPr i="1">
                <a:solidFill>
                  <a:srgbClr val="60A0B0"/>
                </a:solidFill>
                <a:latin typeface="Courier"/>
              </a:rPr>
              <a:t> # Simulate failure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 # ansible.builtin.command: /usr/bin/true # Simulate success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rescue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Handle the failure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ansible.builtin.debug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msg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"Block failed, running rescue tasks."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always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Always run this cleanup task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ansible.builtin.debug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msg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"Always running this task, regardless of success or failure."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1: Safely Upgrading a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Goal:</a:t>
            </a:r>
            <a:r>
              <a:rPr/>
              <a:t> Upgrade a package on a system.</a:t>
            </a:r>
          </a:p>
          <a:p>
            <a:pPr lvl="0"/>
            <a:r>
              <a:rPr b="1"/>
              <a:t>Problem:</a:t>
            </a:r>
            <a:r>
              <a:rPr/>
              <a:t> If the upgrade fails, the system might be left in an inconsistent state or the service dependent on the package might break.</a:t>
            </a:r>
          </a:p>
          <a:p>
            <a:pPr lvl="0"/>
            <a:r>
              <a:rPr b="1"/>
              <a:t>Solution:</a:t>
            </a:r>
            <a:r>
              <a:rPr/>
              <a:t> Use </a:t>
            </a:r>
            <a:r>
              <a:rPr>
                <a:latin typeface="Courier"/>
              </a:rPr>
              <a:t>block</a:t>
            </a:r>
            <a:r>
              <a:rPr/>
              <a:t> and </a:t>
            </a:r>
            <a:r>
              <a:rPr>
                <a:latin typeface="Courier"/>
              </a:rPr>
              <a:t>rescue</a:t>
            </a:r>
            <a:r>
              <a:rPr/>
              <a:t> to attempt the upgrade, and if it fails, rollback to a known good state or notify.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Package Upgrade with Rollback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Safely upgrade a package with rollback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block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Ensure service is stopped before upgrade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ansible.builtin.service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myapp_service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state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stopped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Perform package upgrade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ansible.builtin.package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my-application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state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latest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upgrade_result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Start service after successful upgrade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ansible.builtin.service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myapp_service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state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started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rescue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Rollback to previous package version on failure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ansible.builtin.package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my-application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state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present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version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"{{ previous_app_version }}"</a:t>
            </a:r>
            <a:r>
              <a:rPr i="1">
                <a:solidFill>
                  <a:srgbClr val="60A0B0"/>
                </a:solidFill>
                <a:latin typeface="Courier"/>
              </a:rPr>
              <a:t> # Requires 'previous_app_version' var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when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upgrade_result is defined and upgrade_result.failed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Ensure service is started after rollback attempt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ansible.builtin.service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myapp_service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state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started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Notify admin of upgrade failure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ansible.builtin.mail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subject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"Ansible Package Upgrade Failed on {{ inventory_hostname }}"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body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"Upgrade of my-application failed. Rollback attempted."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to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admin@example.com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2: Managing a Service with Cleanup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Goal:</a:t>
            </a:r>
            <a:r>
              <a:rPr/>
              <a:t> Deploy a new configuration file, restart a service, and ensure temporary files are cleaned up.</a:t>
            </a:r>
          </a:p>
          <a:p>
            <a:pPr lvl="0"/>
            <a:r>
              <a:rPr b="1"/>
              <a:t>Problem:</a:t>
            </a:r>
            <a:r>
              <a:rPr/>
              <a:t> If the service restart fails, temporary configuration files might be left behind, consuming disk space or containing sensitive information.</a:t>
            </a:r>
          </a:p>
          <a:p>
            <a:pPr lvl="0"/>
            <a:r>
              <a:rPr b="1"/>
              <a:t>Solution:</a:t>
            </a:r>
            <a:r>
              <a:rPr/>
              <a:t> Use </a:t>
            </a:r>
            <a:r>
              <a:rPr>
                <a:latin typeface="Courier"/>
              </a:rPr>
              <a:t>always</a:t>
            </a:r>
            <a:r>
              <a:rPr/>
              <a:t> to guarantee cleanup, even if the deployment or restart fails.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Service Management with Guaranteed Cleanup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Deploy config and manage service with cleanup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block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Create temporary configuration file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ansible.builtin.template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src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new_app_config.j2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dest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/tmp/app_config_{{ ansible_date_time.iso8601_basic_short }}.conf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mode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'0600'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temp_config_file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Copy new config to final destination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ansible.builtin.copy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src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"{{ temp_config_file.dest }}"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dest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/etc/myapp/app.conf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remote_src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Restart application service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ansible.builtin.service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myapp_service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state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restarted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rescue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Log error if service restart fails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ansible.builtin.debug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msg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"Failed to deploy new config or restart myapp_service."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always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Ensure temporary config file is removed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ansible.builtin.file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path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"{{ temp_config_file.dest }}"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state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absent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when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temp_config_file is defined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 </a:t>
            </a:r>
            <a:r>
              <a:rPr>
                <a:latin typeface="Courier"/>
              </a:rPr>
              <a:t>rescue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can have multiple tasks in a </a:t>
            </a:r>
            <a:r>
              <a:rPr>
                <a:latin typeface="Courier"/>
              </a:rPr>
              <a:t>rescue</a:t>
            </a:r>
            <a:r>
              <a:rPr/>
              <a:t> block to perform a series of recovery actions.</a:t>
            </a:r>
          </a:p>
          <a:p>
            <a:pPr lvl="0"/>
            <a:r>
              <a:rPr/>
              <a:t>You can use conditional logic (</a:t>
            </a:r>
            <a:r>
              <a:rPr>
                <a:latin typeface="Courier"/>
              </a:rPr>
              <a:t>when</a:t>
            </a:r>
            <a:r>
              <a:rPr/>
              <a:t>) within the </a:t>
            </a:r>
            <a:r>
              <a:rPr>
                <a:latin typeface="Courier"/>
              </a:rPr>
              <a:t>rescue</a:t>
            </a:r>
            <a:r>
              <a:rPr/>
              <a:t> block to react differently to different errors, for example, checking specific error messages in </a:t>
            </a:r>
            <a:r>
              <a:rPr>
                <a:latin typeface="Courier"/>
              </a:rPr>
              <a:t>ansible_result.stderr</a:t>
            </a:r>
            <a:r>
              <a:rPr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for </a:t>
            </a:r>
            <a:r>
              <a:rPr>
                <a:latin typeface="Courier"/>
              </a:rPr>
              <a:t>block</a:t>
            </a:r>
            <a:r>
              <a:rPr/>
              <a:t> and </a:t>
            </a:r>
            <a:r>
              <a:rPr>
                <a:latin typeface="Courier"/>
              </a:rPr>
              <a:t>rescue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Group Logically:</a:t>
            </a:r>
            <a:r>
              <a:rPr/>
              <a:t> Use </a:t>
            </a:r>
            <a:r>
              <a:rPr>
                <a:latin typeface="Courier"/>
              </a:rPr>
              <a:t>block</a:t>
            </a:r>
            <a:r>
              <a:rPr/>
              <a:t> to group tasks that represent a single logical operation.</a:t>
            </a:r>
          </a:p>
          <a:p>
            <a:pPr lvl="0"/>
            <a:r>
              <a:rPr b="1"/>
              <a:t>Focused Recovery:</a:t>
            </a:r>
            <a:r>
              <a:rPr/>
              <a:t> Keep </a:t>
            </a:r>
            <a:r>
              <a:rPr>
                <a:latin typeface="Courier"/>
              </a:rPr>
              <a:t>rescue</a:t>
            </a:r>
            <a:r>
              <a:rPr/>
              <a:t> tasks specifically for error handling, rollback, or notification.</a:t>
            </a:r>
          </a:p>
          <a:p>
            <a:pPr lvl="0"/>
            <a:r>
              <a:rPr b="1"/>
              <a:t>Guaranteed Cleanup:</a:t>
            </a:r>
            <a:r>
              <a:rPr/>
              <a:t> Use </a:t>
            </a:r>
            <a:r>
              <a:rPr>
                <a:latin typeface="Courier"/>
              </a:rPr>
              <a:t>always</a:t>
            </a:r>
            <a:r>
              <a:rPr/>
              <a:t> for tasks that </a:t>
            </a:r>
            <a:r>
              <a:rPr i="1"/>
              <a:t>must</a:t>
            </a:r>
            <a:r>
              <a:rPr/>
              <a:t> run, like removing temporary files or resetting permissions.</a:t>
            </a:r>
          </a:p>
          <a:p>
            <a:pPr lvl="0"/>
            <a:r>
              <a:rPr b="1"/>
              <a:t>Avoid Overuse:</a:t>
            </a:r>
            <a:r>
              <a:rPr/>
              <a:t> Don’t use </a:t>
            </a:r>
            <a:r>
              <a:rPr>
                <a:latin typeface="Courier"/>
              </a:rPr>
              <a:t>block</a:t>
            </a:r>
            <a:r>
              <a:rPr/>
              <a:t>/</a:t>
            </a:r>
            <a:r>
              <a:rPr>
                <a:latin typeface="Courier"/>
              </a:rPr>
              <a:t>rescue</a:t>
            </a:r>
            <a:r>
              <a:rPr/>
              <a:t> for every task; </a:t>
            </a:r>
            <a:r>
              <a:rPr>
                <a:latin typeface="Courier"/>
              </a:rPr>
              <a:t>ignore_errors</a:t>
            </a:r>
            <a:r>
              <a:rPr/>
              <a:t> or </a:t>
            </a:r>
            <a:r>
              <a:rPr>
                <a:latin typeface="Courier"/>
              </a:rPr>
              <a:t>failed_when</a:t>
            </a:r>
            <a:r>
              <a:rPr/>
              <a:t> are sufficient for simpler cases.</a:t>
            </a:r>
          </a:p>
          <a:p>
            <a:pPr lvl="0"/>
            <a:r>
              <a:rPr b="1"/>
              <a:t>Clarity:</a:t>
            </a:r>
            <a:r>
              <a:rPr/>
              <a:t> Use clear </a:t>
            </a:r>
            <a:r>
              <a:rPr>
                <a:latin typeface="Courier"/>
              </a:rPr>
              <a:t>name</a:t>
            </a:r>
            <a:r>
              <a:rPr/>
              <a:t> attributes for your blocks and tasks to explain their purpose.</a:t>
            </a:r>
          </a:p>
          <a:p>
            <a:pPr lvl="0"/>
            <a:r>
              <a:rPr b="1"/>
              <a:t>Test:</a:t>
            </a:r>
            <a:r>
              <a:rPr/>
              <a:t> Thoroughly test your error handling paths by simulating failures.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block</a:t>
            </a:r>
            <a:r>
              <a:rPr/>
              <a:t>, </a:t>
            </a:r>
            <a:r>
              <a:rPr>
                <a:latin typeface="Courier"/>
              </a:rPr>
              <a:t>rescue</a:t>
            </a:r>
            <a:r>
              <a:rPr/>
              <a:t>, and </a:t>
            </a:r>
            <a:r>
              <a:rPr>
                <a:latin typeface="Courier"/>
              </a:rPr>
              <a:t>always</a:t>
            </a:r>
            <a:r>
              <a:rPr/>
              <a:t> provide a powerful </a:t>
            </a:r>
            <a:r>
              <a:rPr>
                <a:latin typeface="Courier"/>
              </a:rPr>
              <a:t>try...catch...finally</a:t>
            </a:r>
            <a:r>
              <a:rPr/>
              <a:t> mechanism for Ansible.</a:t>
            </a:r>
          </a:p>
          <a:p>
            <a:pPr lvl="0"/>
            <a:r>
              <a:rPr/>
              <a:t>They enable the creation of more resilient and self-healing automation.</a:t>
            </a:r>
          </a:p>
          <a:p>
            <a:pPr lvl="0"/>
            <a:r>
              <a:rPr/>
              <a:t>By structuring your playbooks with these constructs, you can handle unexpected issues gracefully.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2025-12-11T16:08:08Z</dcterms:created>
  <dcterms:modified xsi:type="dcterms:W3CDTF">2025-12-11T16:08:08Z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